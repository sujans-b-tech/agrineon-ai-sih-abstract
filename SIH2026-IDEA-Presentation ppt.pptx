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9"/>
    </p:embeddedFont>
    <p:embeddedFont>
      <p:font typeface="Arimo Bold" panose="020B0604020202020204" charset="0"/>
      <p:regular r:id="rId10"/>
    </p:embeddedFont>
    <p:embeddedFont>
      <p:font typeface="Britannic Bold" panose="020B0903060703020204" pitchFamily="34" charset="0"/>
      <p:regular r:id="rId11"/>
    </p:embeddedFon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Gill Sans MT" panose="020B0502020104020203" pitchFamily="34" charset="0"/>
      <p:regular r:id="rId14"/>
      <p:bold r:id="rId15"/>
      <p:italic r:id="rId16"/>
      <p:boldItalic r:id="rId17"/>
    </p:embeddedFont>
    <p:embeddedFont>
      <p:font typeface="Heading Now 71-78" panose="020B0604020202020204" charset="0"/>
      <p:regular r:id="rId18"/>
    </p:embeddedFont>
    <p:embeddedFont>
      <p:font typeface="Times New Roman Bold" panose="02020803070505020304" pitchFamily="18" charset="0"/>
      <p:regular r:id="rId19"/>
      <p:bold r:id="rId20"/>
    </p:embeddedFont>
    <p:embeddedFont>
      <p:font typeface="TT Firs Neue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08/08/2026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14949" y="1525848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762167" y="2573822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49475" b="-1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496929" y="-790137"/>
            <a:ext cx="15544800" cy="3114675"/>
            <a:chOff x="0" y="0"/>
            <a:chExt cx="20726400" cy="41529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7246" b="-4724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61925"/>
              <a:ext cx="20726400" cy="4314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spc="-330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SMART INDIA HACKATHON 2026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762045" y="9449"/>
            <a:ext cx="3313681" cy="1684306"/>
            <a:chOff x="0" y="0"/>
            <a:chExt cx="4418241" cy="2245741"/>
          </a:xfrm>
        </p:grpSpPr>
        <p:sp>
          <p:nvSpPr>
            <p:cNvPr id="9" name="Freeform 9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496929" y="1727132"/>
            <a:ext cx="11507576" cy="819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1"/>
              </a:lnSpc>
            </a:pPr>
            <a:r>
              <a:rPr lang="en-US" sz="4400" spc="-307" dirty="0">
                <a:solidFill>
                  <a:srgbClr val="000000"/>
                </a:solidFill>
                <a:latin typeface="Britannic Bold" panose="020B0903060703020204" pitchFamily="34" charset="0"/>
                <a:ea typeface="Heading Now 71-78"/>
                <a:cs typeface="Heading Now 71-78"/>
                <a:sym typeface="Heading Now 71-78"/>
              </a:rPr>
              <a:t>AGRO NEON </a:t>
            </a:r>
          </a:p>
          <a:p>
            <a:pPr algn="l">
              <a:lnSpc>
                <a:spcPts val="5581"/>
              </a:lnSpc>
            </a:pPr>
            <a:endParaRPr lang="en-US" sz="4400" spc="-307" dirty="0">
              <a:solidFill>
                <a:srgbClr val="000000"/>
              </a:solidFill>
              <a:latin typeface="Heading Now 71-78"/>
              <a:ea typeface="Heading Now 71-78"/>
              <a:cs typeface="Heading Now 71-78"/>
              <a:sym typeface="Heading Now 71-78"/>
            </a:endParaRPr>
          </a:p>
          <a:p>
            <a:pPr algn="l">
              <a:lnSpc>
                <a:spcPts val="3375"/>
              </a:lnSpc>
            </a:pPr>
            <a:r>
              <a:rPr lang="en-US" sz="3375" b="1" spc="-185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AI Powered Smart Farming Ecosystem</a:t>
            </a:r>
          </a:p>
          <a:p>
            <a:pPr algn="l">
              <a:lnSpc>
                <a:spcPts val="3375"/>
              </a:lnSpc>
            </a:pPr>
            <a:endParaRPr lang="en-US" sz="3375" b="1" spc="-185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445"/>
              </a:lnSpc>
            </a:pPr>
            <a:r>
              <a:rPr lang="en-US" sz="3445" b="1" spc="-18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</a:t>
            </a:r>
            <a:r>
              <a:rPr lang="en-US" sz="3200" b="1" spc="-18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Tagline :  One AI Companion for Every Farmer – From Soil to Sale</a:t>
            </a:r>
          </a:p>
          <a:p>
            <a:pPr algn="l">
              <a:lnSpc>
                <a:spcPts val="3504"/>
              </a:lnSpc>
            </a:pPr>
            <a:endParaRPr lang="en-US" sz="3200" b="1" spc="-189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84748" lvl="1" indent="-392374" algn="l">
              <a:lnSpc>
                <a:spcPts val="3634"/>
              </a:lnSpc>
              <a:buFont typeface="Arial"/>
              <a:buChar char="•"/>
            </a:pPr>
            <a:r>
              <a:rPr lang="en-US" sz="3200" b="1" spc="-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:   SIHI018</a:t>
            </a:r>
          </a:p>
          <a:p>
            <a:pPr algn="l">
              <a:lnSpc>
                <a:spcPts val="3634"/>
              </a:lnSpc>
            </a:pPr>
            <a:endParaRPr lang="en-US" sz="3200" b="1" spc="-199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84748" lvl="1" indent="-392374" algn="l">
              <a:lnSpc>
                <a:spcPts val="3634"/>
              </a:lnSpc>
              <a:buFont typeface="Arial"/>
              <a:buChar char="•"/>
            </a:pPr>
            <a:r>
              <a:rPr lang="en-US" sz="3200" b="1" spc="-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      :   </a:t>
            </a:r>
            <a:r>
              <a:rPr lang="en-US" sz="3200" b="1" spc="-199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Smart Crop Advisory System for                                Small and Marginal Farmers</a:t>
            </a:r>
          </a:p>
          <a:p>
            <a:pPr algn="l">
              <a:lnSpc>
                <a:spcPts val="3634"/>
              </a:lnSpc>
            </a:pPr>
            <a:endParaRPr lang="en-US" sz="3200" b="1" spc="-199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84748" lvl="1" indent="-392374" algn="l">
              <a:lnSpc>
                <a:spcPts val="3634"/>
              </a:lnSpc>
              <a:buFont typeface="Arial"/>
              <a:buChar char="•"/>
            </a:pPr>
            <a:r>
              <a:rPr lang="en-US" sz="3200" b="1" spc="-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                              :   Agriculture, </a:t>
            </a:r>
            <a:r>
              <a:rPr lang="en-US" sz="3200" b="1" spc="-199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FoodTech</a:t>
            </a:r>
            <a:r>
              <a:rPr lang="en-US" sz="3200" b="1" spc="-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&amp; Rural </a:t>
            </a:r>
          </a:p>
          <a:p>
            <a:pPr algn="l">
              <a:lnSpc>
                <a:spcPts val="3634"/>
              </a:lnSpc>
            </a:pPr>
            <a:endParaRPr lang="en-US" sz="3200" b="1" spc="-199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84748" lvl="1" indent="-392374" algn="l">
              <a:lnSpc>
                <a:spcPts val="3634"/>
              </a:lnSpc>
              <a:buFont typeface="Arial"/>
              <a:buChar char="•"/>
            </a:pPr>
            <a:r>
              <a:rPr lang="en-US" sz="3200" b="1" spc="-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Category                           :  Software</a:t>
            </a:r>
          </a:p>
          <a:p>
            <a:pPr algn="l">
              <a:lnSpc>
                <a:spcPts val="3634"/>
              </a:lnSpc>
            </a:pPr>
            <a:endParaRPr lang="en-US" sz="3200" b="1" spc="-199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84748" lvl="1" indent="-392374" algn="l">
              <a:lnSpc>
                <a:spcPts val="3634"/>
              </a:lnSpc>
              <a:buFont typeface="Arial"/>
              <a:buChar char="•"/>
            </a:pPr>
            <a:r>
              <a:rPr lang="en-US" sz="3200" b="1" spc="-199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 Name                     : TECH NEON</a:t>
            </a:r>
          </a:p>
          <a:p>
            <a:pPr algn="l">
              <a:lnSpc>
                <a:spcPts val="2855"/>
              </a:lnSpc>
            </a:pPr>
            <a:endParaRPr lang="en-US" sz="3634" b="1" spc="-199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4" name="Freeform 4"/>
          <p:cNvSpPr/>
          <p:nvPr/>
        </p:nvSpPr>
        <p:spPr>
          <a:xfrm flipH="1">
            <a:off x="4914922" y="676960"/>
            <a:ext cx="7763659" cy="8229600"/>
          </a:xfrm>
          <a:custGeom>
            <a:avLst/>
            <a:gdLst/>
            <a:ahLst/>
            <a:cxnLst/>
            <a:rect l="l" t="t" r="r" b="b"/>
            <a:pathLst>
              <a:path w="7763659" h="8229600">
                <a:moveTo>
                  <a:pt x="7763660" y="0"/>
                </a:moveTo>
                <a:lnTo>
                  <a:pt x="0" y="0"/>
                </a:lnTo>
                <a:lnTo>
                  <a:pt x="0" y="8229600"/>
                </a:lnTo>
                <a:lnTo>
                  <a:pt x="7763660" y="8229600"/>
                </a:lnTo>
                <a:lnTo>
                  <a:pt x="776366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209203">
            <a:off x="12017540" y="43458"/>
            <a:ext cx="2790583" cy="4114800"/>
          </a:xfrm>
          <a:custGeom>
            <a:avLst/>
            <a:gdLst/>
            <a:ahLst/>
            <a:cxnLst/>
            <a:rect l="l" t="t" r="r" b="b"/>
            <a:pathLst>
              <a:path w="2790583" h="4114800">
                <a:moveTo>
                  <a:pt x="0" y="0"/>
                </a:moveTo>
                <a:lnTo>
                  <a:pt x="2790582" y="0"/>
                </a:lnTo>
                <a:lnTo>
                  <a:pt x="27905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74501" y="-497929"/>
            <a:ext cx="16459200" cy="1714500"/>
            <a:chOff x="0" y="0"/>
            <a:chExt cx="21945600" cy="2286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NEON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9" name="Freeform 19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0" y="2576268"/>
            <a:ext cx="8252486" cy="2865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9"/>
              </a:lnSpc>
              <a:spcBef>
                <a:spcPct val="0"/>
              </a:spcBef>
            </a:pPr>
            <a:r>
              <a:rPr lang="en-US" sz="2306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Problem : </a:t>
            </a:r>
          </a:p>
          <a:p>
            <a:pPr marL="497965" lvl="1" indent="-248982" algn="l">
              <a:lnSpc>
                <a:spcPts val="3229"/>
              </a:lnSpc>
              <a:buFont typeface="Arial"/>
              <a:buChar char="•"/>
            </a:pPr>
            <a:r>
              <a:rPr lang="en-US" sz="2306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Wrong crop selection and poor land productivity</a:t>
            </a:r>
          </a:p>
          <a:p>
            <a:pPr marL="497965" lvl="1" indent="-248982" algn="l">
              <a:lnSpc>
                <a:spcPts val="3229"/>
              </a:lnSpc>
              <a:buFont typeface="Arial"/>
              <a:buChar char="•"/>
            </a:pPr>
            <a:r>
              <a:rPr lang="en-US" sz="2306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Climate uncertainty &amp; limited advisory access</a:t>
            </a:r>
          </a:p>
          <a:p>
            <a:pPr marL="497965" lvl="1" indent="-248982" algn="l">
              <a:lnSpc>
                <a:spcPts val="3229"/>
              </a:lnSpc>
              <a:buFont typeface="Arial"/>
              <a:buChar char="•"/>
            </a:pPr>
            <a:r>
              <a:rPr lang="en-US" sz="2306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Crop diseases, price volatility, middlemen exploitation</a:t>
            </a:r>
          </a:p>
          <a:p>
            <a:pPr marL="497965" lvl="1" indent="-248982" algn="l">
              <a:lnSpc>
                <a:spcPts val="3229"/>
              </a:lnSpc>
              <a:buFont typeface="Arial"/>
              <a:buChar char="•"/>
            </a:pPr>
            <a:r>
              <a:rPr lang="en-US" sz="2306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Lack of scientific, localized guidance for smallholders</a:t>
            </a:r>
          </a:p>
        </p:txBody>
      </p:sp>
      <p:sp>
        <p:nvSpPr>
          <p:cNvPr id="21" name="Freeform 21"/>
          <p:cNvSpPr/>
          <p:nvPr/>
        </p:nvSpPr>
        <p:spPr>
          <a:xfrm>
            <a:off x="-1" y="6746518"/>
            <a:ext cx="1420193" cy="2664182"/>
          </a:xfrm>
          <a:custGeom>
            <a:avLst/>
            <a:gdLst/>
            <a:ahLst/>
            <a:cxnLst/>
            <a:rect l="l" t="t" r="r" b="b"/>
            <a:pathLst>
              <a:path w="1889161" h="2785626">
                <a:moveTo>
                  <a:pt x="0" y="0"/>
                </a:moveTo>
                <a:lnTo>
                  <a:pt x="1889161" y="0"/>
                </a:lnTo>
                <a:lnTo>
                  <a:pt x="1889161" y="2785626"/>
                </a:lnTo>
                <a:lnTo>
                  <a:pt x="0" y="27856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37250" y="5259503"/>
            <a:ext cx="18150750" cy="161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endParaRPr/>
          </a:p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                                   Our Solution :</a:t>
            </a:r>
          </a:p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An Explainable AI-powered Digital Farming Assistant providing end-to-end support from land preparation to market, with transparent recommendations and localized interfaces (voice &amp; offline).</a:t>
            </a:r>
          </a:p>
        </p:txBody>
      </p:sp>
      <p:sp>
        <p:nvSpPr>
          <p:cNvPr id="23" name="AutoShape 23"/>
          <p:cNvSpPr/>
          <p:nvPr/>
        </p:nvSpPr>
        <p:spPr>
          <a:xfrm>
            <a:off x="0" y="5623322"/>
            <a:ext cx="197329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-1091697" y="7029883"/>
            <a:ext cx="197329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Freeform 25"/>
          <p:cNvSpPr/>
          <p:nvPr/>
        </p:nvSpPr>
        <p:spPr>
          <a:xfrm>
            <a:off x="12956305" y="1786959"/>
            <a:ext cx="4874495" cy="3654899"/>
          </a:xfrm>
          <a:custGeom>
            <a:avLst/>
            <a:gdLst/>
            <a:ahLst/>
            <a:cxnLst/>
            <a:rect l="l" t="t" r="r" b="b"/>
            <a:pathLst>
              <a:path w="4874495" h="3654899">
                <a:moveTo>
                  <a:pt x="0" y="0"/>
                </a:moveTo>
                <a:lnTo>
                  <a:pt x="4874495" y="0"/>
                </a:lnTo>
                <a:lnTo>
                  <a:pt x="4874495" y="3654899"/>
                </a:lnTo>
                <a:lnTo>
                  <a:pt x="0" y="36548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b="-7028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2619193" y="6496830"/>
            <a:ext cx="5668807" cy="3035313"/>
          </a:xfrm>
          <a:custGeom>
            <a:avLst/>
            <a:gdLst/>
            <a:ahLst/>
            <a:cxnLst/>
            <a:rect l="l" t="t" r="r" b="b"/>
            <a:pathLst>
              <a:path w="6022032" h="3035313">
                <a:moveTo>
                  <a:pt x="0" y="0"/>
                </a:moveTo>
                <a:lnTo>
                  <a:pt x="6022032" y="0"/>
                </a:lnTo>
                <a:lnTo>
                  <a:pt x="6022032" y="3035314"/>
                </a:lnTo>
                <a:lnTo>
                  <a:pt x="0" y="30353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b="-11297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74501" y="1953967"/>
            <a:ext cx="11619429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Transforming Agriculture with Explainable AI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0" y="6982258"/>
            <a:ext cx="9053870" cy="2237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3"/>
              </a:lnSpc>
              <a:spcBef>
                <a:spcPct val="0"/>
              </a:spcBef>
            </a:pPr>
            <a:r>
              <a:rPr lang="en-US" sz="2473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Core Features:</a:t>
            </a:r>
          </a:p>
          <a:p>
            <a:pPr marL="447758" lvl="1" indent="-223879" algn="l">
              <a:lnSpc>
                <a:spcPts val="2903"/>
              </a:lnSpc>
              <a:buFont typeface="Arial"/>
              <a:buChar char="•"/>
            </a:pPr>
            <a:r>
              <a:rPr lang="en-US" sz="2073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AI Land Productivity Analysis &amp; Smart Crop Recommendation</a:t>
            </a:r>
          </a:p>
          <a:p>
            <a:pPr marL="447758" lvl="1" indent="-223879" algn="l">
              <a:lnSpc>
                <a:spcPts val="2903"/>
              </a:lnSpc>
              <a:buFont typeface="Arial"/>
              <a:buChar char="•"/>
            </a:pPr>
            <a:r>
              <a:rPr lang="en-US" sz="2073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Daily AI Farming Assistant &amp; Voice support (regional languages)</a:t>
            </a:r>
          </a:p>
          <a:p>
            <a:pPr marL="447758" lvl="1" indent="-223879" algn="l">
              <a:lnSpc>
                <a:spcPts val="2903"/>
              </a:lnSpc>
              <a:buFont typeface="Arial"/>
              <a:buChar char="•"/>
            </a:pPr>
            <a:r>
              <a:rPr lang="en-US" sz="2073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AI Crop Doctor (disease detection) &amp; Yield/Profit Prediction</a:t>
            </a:r>
          </a:p>
          <a:p>
            <a:pPr marL="447758" lvl="1" indent="-223879" algn="l">
              <a:lnSpc>
                <a:spcPts val="2903"/>
              </a:lnSpc>
              <a:buFont typeface="Arial"/>
              <a:buChar char="•"/>
            </a:pPr>
            <a:r>
              <a:rPr lang="en-US" sz="2073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Market Intelligence, Farmer Marketplace, Offline Mode</a:t>
            </a:r>
          </a:p>
          <a:p>
            <a:pPr marL="447758" lvl="1" indent="-223879" algn="l">
              <a:lnSpc>
                <a:spcPts val="2903"/>
              </a:lnSpc>
              <a:buFont typeface="Arial"/>
              <a:buChar char="•"/>
            </a:pPr>
            <a:r>
              <a:rPr lang="en-US" sz="2073" b="1" dirty="0">
                <a:solidFill>
                  <a:srgbClr val="000000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Explainable AI: Confidence scores and scientific reasoning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391499" y="-147638"/>
            <a:ext cx="13279412" cy="1383272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62045" y="-75884"/>
            <a:ext cx="3313681" cy="1684306"/>
            <a:chOff x="0" y="0"/>
            <a:chExt cx="4418241" cy="2245741"/>
          </a:xfrm>
        </p:grpSpPr>
        <p:sp>
          <p:nvSpPr>
            <p:cNvPr id="14" name="Freeform 14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75612" y="171450"/>
            <a:ext cx="1915887" cy="1249101"/>
            <a:chOff x="0" y="0"/>
            <a:chExt cx="2554516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NEON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1191738" y="1624012"/>
            <a:ext cx="5969588" cy="3364163"/>
          </a:xfrm>
          <a:custGeom>
            <a:avLst/>
            <a:gdLst/>
            <a:ahLst/>
            <a:cxnLst/>
            <a:rect l="l" t="t" r="r" b="b"/>
            <a:pathLst>
              <a:path w="5969588" h="3364163">
                <a:moveTo>
                  <a:pt x="0" y="0"/>
                </a:moveTo>
                <a:lnTo>
                  <a:pt x="5969588" y="0"/>
                </a:lnTo>
                <a:lnTo>
                  <a:pt x="5969588" y="3364163"/>
                </a:lnTo>
                <a:lnTo>
                  <a:pt x="0" y="33641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9795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73800" y="3865813"/>
            <a:ext cx="5407950" cy="3729349"/>
          </a:xfrm>
          <a:custGeom>
            <a:avLst/>
            <a:gdLst/>
            <a:ahLst/>
            <a:cxnLst/>
            <a:rect l="l" t="t" r="r" b="b"/>
            <a:pathLst>
              <a:path w="6272247" h="4000812">
                <a:moveTo>
                  <a:pt x="0" y="0"/>
                </a:moveTo>
                <a:lnTo>
                  <a:pt x="6272247" y="0"/>
                </a:lnTo>
                <a:lnTo>
                  <a:pt x="6272247" y="4000812"/>
                </a:lnTo>
                <a:lnTo>
                  <a:pt x="0" y="40008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471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607212" y="5143500"/>
            <a:ext cx="7138640" cy="3994675"/>
          </a:xfrm>
          <a:custGeom>
            <a:avLst/>
            <a:gdLst/>
            <a:ahLst/>
            <a:cxnLst/>
            <a:rect l="l" t="t" r="r" b="b"/>
            <a:pathLst>
              <a:path w="7138640" h="3994675">
                <a:moveTo>
                  <a:pt x="0" y="0"/>
                </a:moveTo>
                <a:lnTo>
                  <a:pt x="7138640" y="0"/>
                </a:lnTo>
                <a:lnTo>
                  <a:pt x="7138640" y="3994675"/>
                </a:lnTo>
                <a:lnTo>
                  <a:pt x="0" y="39946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10014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014788" y="971550"/>
            <a:ext cx="952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9139238" y="3448050"/>
            <a:ext cx="9525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0" y="1576387"/>
            <a:ext cx="10849213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      Data &amp; Tech Stack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Sources : Weather API, Satellite Images, Soil Data, Market Data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       : Flutter · Backend: FastAPI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       : PostgreSQL, Firebase · AI: TensorFlow, PyTorch, OpenCV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            : AWS  CI/CD and containerised deployment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368" y="7334250"/>
            <a:ext cx="10687645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                     AI Technologies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Vision: EfficientNet, Vision Transformer, YOLO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Learning: XGBoost, Random Forest, LightGBM</a:t>
            </a:r>
          </a:p>
          <a:p>
            <a:pPr marL="582930" lvl="1" indent="-291465" algn="l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Chatbot: Large Language Model, Speech Recognition, Text-to-Speech</a:t>
            </a:r>
          </a:p>
        </p:txBody>
      </p:sp>
      <p:sp>
        <p:nvSpPr>
          <p:cNvPr id="25" name="Freeform 25"/>
          <p:cNvSpPr/>
          <p:nvPr/>
        </p:nvSpPr>
        <p:spPr>
          <a:xfrm flipH="1">
            <a:off x="4914922" y="676960"/>
            <a:ext cx="7763659" cy="8229600"/>
          </a:xfrm>
          <a:custGeom>
            <a:avLst/>
            <a:gdLst/>
            <a:ahLst/>
            <a:cxnLst/>
            <a:rect l="l" t="t" r="r" b="b"/>
            <a:pathLst>
              <a:path w="7763659" h="8229600">
                <a:moveTo>
                  <a:pt x="7763660" y="0"/>
                </a:moveTo>
                <a:lnTo>
                  <a:pt x="0" y="0"/>
                </a:lnTo>
                <a:lnTo>
                  <a:pt x="0" y="8229600"/>
                </a:lnTo>
                <a:lnTo>
                  <a:pt x="7763660" y="8229600"/>
                </a:lnTo>
                <a:lnTo>
                  <a:pt x="7763660" y="0"/>
                </a:lnTo>
                <a:close/>
              </a:path>
            </a:pathLst>
          </a:custGeom>
          <a:blipFill>
            <a:blip r:embed="rId8">
              <a:alphaModFix amt="21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4" name="Freeform 4"/>
          <p:cNvSpPr/>
          <p:nvPr/>
        </p:nvSpPr>
        <p:spPr>
          <a:xfrm flipH="1">
            <a:off x="4914922" y="676960"/>
            <a:ext cx="7763659" cy="8229600"/>
          </a:xfrm>
          <a:custGeom>
            <a:avLst/>
            <a:gdLst/>
            <a:ahLst/>
            <a:cxnLst/>
            <a:rect l="l" t="t" r="r" b="b"/>
            <a:pathLst>
              <a:path w="7763659" h="8229600">
                <a:moveTo>
                  <a:pt x="7763660" y="0"/>
                </a:moveTo>
                <a:lnTo>
                  <a:pt x="0" y="0"/>
                </a:lnTo>
                <a:lnTo>
                  <a:pt x="0" y="8229600"/>
                </a:lnTo>
                <a:lnTo>
                  <a:pt x="7763660" y="8229600"/>
                </a:lnTo>
                <a:lnTo>
                  <a:pt x="7763660" y="0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914400" y="-106080"/>
            <a:ext cx="16459200" cy="1714500"/>
            <a:chOff x="0" y="0"/>
            <a:chExt cx="219456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5" name="Freeform 15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351063" y="85649"/>
            <a:ext cx="1915887" cy="1249101"/>
            <a:chOff x="0" y="0"/>
            <a:chExt cx="2554516" cy="1665468"/>
          </a:xfrm>
        </p:grpSpPr>
        <p:sp>
          <p:nvSpPr>
            <p:cNvPr id="17" name="Freeform 17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NEON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0" y="2065230"/>
            <a:ext cx="5773615" cy="3825983"/>
          </a:xfrm>
          <a:custGeom>
            <a:avLst/>
            <a:gdLst/>
            <a:ahLst/>
            <a:cxnLst/>
            <a:rect l="l" t="t" r="r" b="b"/>
            <a:pathLst>
              <a:path w="5773615" h="3825983">
                <a:moveTo>
                  <a:pt x="0" y="0"/>
                </a:moveTo>
                <a:lnTo>
                  <a:pt x="5773615" y="0"/>
                </a:lnTo>
                <a:lnTo>
                  <a:pt x="5773615" y="3825982"/>
                </a:lnTo>
                <a:lnTo>
                  <a:pt x="0" y="38259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74" r="-974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1676185" y="1958921"/>
            <a:ext cx="5773615" cy="3825983"/>
          </a:xfrm>
          <a:custGeom>
            <a:avLst/>
            <a:gdLst/>
            <a:ahLst/>
            <a:cxnLst/>
            <a:rect l="l" t="t" r="r" b="b"/>
            <a:pathLst>
              <a:path w="5773615" h="3825983">
                <a:moveTo>
                  <a:pt x="0" y="0"/>
                </a:moveTo>
                <a:lnTo>
                  <a:pt x="5773615" y="0"/>
                </a:lnTo>
                <a:lnTo>
                  <a:pt x="5773615" y="3825983"/>
                </a:lnTo>
                <a:lnTo>
                  <a:pt x="0" y="38259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74" r="-974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024424" y="5770455"/>
            <a:ext cx="5513165" cy="3698301"/>
          </a:xfrm>
          <a:custGeom>
            <a:avLst/>
            <a:gdLst/>
            <a:ahLst/>
            <a:cxnLst/>
            <a:rect l="l" t="t" r="r" b="b"/>
            <a:pathLst>
              <a:path w="5513165" h="3698301">
                <a:moveTo>
                  <a:pt x="0" y="0"/>
                </a:moveTo>
                <a:lnTo>
                  <a:pt x="5513165" y="0"/>
                </a:lnTo>
                <a:lnTo>
                  <a:pt x="5513165" y="3698301"/>
                </a:lnTo>
                <a:lnTo>
                  <a:pt x="0" y="36983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00" r="-1600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446696" y="2530828"/>
            <a:ext cx="4708628" cy="4146200"/>
          </a:xfrm>
          <a:custGeom>
            <a:avLst/>
            <a:gdLst>
              <a:gd name="csX0" fmla="*/ 0 w 4708628"/>
              <a:gd name="csY0" fmla="*/ 0 h 4019992"/>
              <a:gd name="csX1" fmla="*/ 4708628 w 4708628"/>
              <a:gd name="csY1" fmla="*/ 0 h 4019992"/>
              <a:gd name="csX2" fmla="*/ 4558503 w 4708628"/>
              <a:gd name="csY2" fmla="*/ 3742113 h 4019992"/>
              <a:gd name="csX3" fmla="*/ 0 w 4708628"/>
              <a:gd name="csY3" fmla="*/ 4019992 h 4019992"/>
              <a:gd name="csX4" fmla="*/ 0 w 4708628"/>
              <a:gd name="csY4" fmla="*/ 0 h 4019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708628" h="4019992">
                <a:moveTo>
                  <a:pt x="0" y="0"/>
                </a:moveTo>
                <a:lnTo>
                  <a:pt x="4708628" y="0"/>
                </a:lnTo>
                <a:lnTo>
                  <a:pt x="4558503" y="3742113"/>
                </a:lnTo>
                <a:lnTo>
                  <a:pt x="0" y="40199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-30823" y="1750905"/>
            <a:ext cx="1644970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5"/>
              </a:lnSpc>
              <a:spcBef>
                <a:spcPct val="0"/>
              </a:spcBef>
            </a:pPr>
            <a:r>
              <a:rPr lang="en-US" sz="194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Practical, farmer-friendly deployment using proven AI components and an offline-first mobile experience. Scalable across diverse Indian agro-climates.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76400" y="3371850"/>
            <a:ext cx="2035416" cy="1009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76"/>
              </a:lnSpc>
            </a:pPr>
            <a:r>
              <a:rPr lang="en-US" sz="331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</a:t>
            </a:r>
          </a:p>
          <a:p>
            <a:pPr algn="l">
              <a:lnSpc>
                <a:spcPts val="3856"/>
              </a:lnSpc>
              <a:spcBef>
                <a:spcPct val="0"/>
              </a:spcBef>
            </a:pPr>
            <a:endParaRPr lang="en-US" sz="3314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4400" y="3886200"/>
            <a:ext cx="3741768" cy="187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sz="2454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Leverages existing CV and ML models, smartphone ubiquity, satellite APIs and government data (Soil Health Card, IMD)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656997" y="6881813"/>
            <a:ext cx="182891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82135" y="7340647"/>
            <a:ext cx="2883443" cy="195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3"/>
              </a:lnSpc>
              <a:spcBef>
                <a:spcPct val="0"/>
              </a:spcBef>
            </a:pPr>
            <a:r>
              <a:rPr lang="en-US" sz="212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services, cloud backend, caching and edge models for offline inference; regional model fine-tuning for local crops.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106400" y="3195638"/>
            <a:ext cx="288976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Business Viability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01045" y="3643312"/>
            <a:ext cx="3819297" cy="1948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9"/>
              </a:lnSpc>
              <a:spcBef>
                <a:spcPct val="0"/>
              </a:spcBef>
            </a:pPr>
            <a:r>
              <a:rPr lang="en-US" sz="25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via premium analytics, marketplace commissions, Gov. partnerships, and paid agritech services for FPOs.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95300" y="-39528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762045" y="-40729"/>
            <a:ext cx="3313681" cy="1684306"/>
            <a:chOff x="0" y="0"/>
            <a:chExt cx="4418241" cy="2245741"/>
          </a:xfrm>
        </p:grpSpPr>
        <p:sp>
          <p:nvSpPr>
            <p:cNvPr id="14" name="Freeform 14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380362" y="187871"/>
            <a:ext cx="1915887" cy="1249101"/>
            <a:chOff x="0" y="0"/>
            <a:chExt cx="2554516" cy="1665468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NEON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532037" y="2933886"/>
            <a:ext cx="17432113" cy="2128442"/>
          </a:xfrm>
          <a:custGeom>
            <a:avLst/>
            <a:gdLst/>
            <a:ahLst/>
            <a:cxnLst/>
            <a:rect l="l" t="t" r="r" b="b"/>
            <a:pathLst>
              <a:path w="17432113" h="2128442">
                <a:moveTo>
                  <a:pt x="0" y="0"/>
                </a:moveTo>
                <a:lnTo>
                  <a:pt x="17432113" y="0"/>
                </a:lnTo>
                <a:lnTo>
                  <a:pt x="17432113" y="2128442"/>
                </a:lnTo>
                <a:lnTo>
                  <a:pt x="0" y="2128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65675" y="5062328"/>
            <a:ext cx="7459225" cy="4320941"/>
          </a:xfrm>
          <a:custGeom>
            <a:avLst/>
            <a:gdLst/>
            <a:ahLst/>
            <a:cxnLst/>
            <a:rect l="l" t="t" r="r" b="b"/>
            <a:pathLst>
              <a:path w="7459225" h="4320941">
                <a:moveTo>
                  <a:pt x="0" y="0"/>
                </a:moveTo>
                <a:lnTo>
                  <a:pt x="7459225" y="0"/>
                </a:lnTo>
                <a:lnTo>
                  <a:pt x="7459225" y="4320940"/>
                </a:lnTo>
                <a:lnTo>
                  <a:pt x="0" y="43209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7354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8967532" y="5270405"/>
            <a:ext cx="7554024" cy="3943519"/>
          </a:xfrm>
          <a:custGeom>
            <a:avLst/>
            <a:gdLst/>
            <a:ahLst/>
            <a:cxnLst/>
            <a:rect l="l" t="t" r="r" b="b"/>
            <a:pathLst>
              <a:path w="7554024" h="3943519">
                <a:moveTo>
                  <a:pt x="0" y="0"/>
                </a:moveTo>
                <a:lnTo>
                  <a:pt x="7554024" y="0"/>
                </a:lnTo>
                <a:lnTo>
                  <a:pt x="7554024" y="3943519"/>
                </a:lnTo>
                <a:lnTo>
                  <a:pt x="0" y="3943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7869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91403" y="1624527"/>
            <a:ext cx="17884323" cy="820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spcBef>
                <a:spcPct val="0"/>
              </a:spcBef>
            </a:pPr>
            <a:r>
              <a:rPr lang="en-US" sz="264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scope: Drone integration for precision spraying, IoT soil-moisture sensors, smart irrigation controls, crop insurance integration and alignment with government schemes.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71386" y="2266950"/>
            <a:ext cx="9235014" cy="8450038"/>
          </a:xfrm>
          <a:custGeom>
            <a:avLst/>
            <a:gdLst/>
            <a:ahLst/>
            <a:cxnLst/>
            <a:rect l="l" t="t" r="r" b="b"/>
            <a:pathLst>
              <a:path w="9235014" h="8450038">
                <a:moveTo>
                  <a:pt x="0" y="0"/>
                </a:moveTo>
                <a:lnTo>
                  <a:pt x="9235014" y="0"/>
                </a:lnTo>
                <a:lnTo>
                  <a:pt x="9235014" y="8450038"/>
                </a:lnTo>
                <a:lnTo>
                  <a:pt x="0" y="84500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Team Name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762045" y="85649"/>
            <a:ext cx="3313681" cy="1684306"/>
            <a:chOff x="0" y="0"/>
            <a:chExt cx="4418241" cy="2245741"/>
          </a:xfrm>
        </p:grpSpPr>
        <p:sp>
          <p:nvSpPr>
            <p:cNvPr id="18" name="Freeform 18" descr="https://www.sih.gov.in/img1/SIH-Logo.png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475612" y="359321"/>
            <a:ext cx="1915887" cy="1249101"/>
            <a:chOff x="0" y="0"/>
            <a:chExt cx="2554516" cy="1665468"/>
          </a:xfrm>
        </p:grpSpPr>
        <p:sp>
          <p:nvSpPr>
            <p:cNvPr id="20" name="Freeform 20" descr="Your startup LOGO"/>
            <p:cNvSpPr/>
            <p:nvPr/>
          </p:nvSpPr>
          <p:spPr>
            <a:xfrm>
              <a:off x="0" y="0"/>
              <a:ext cx="2554478" cy="1665481"/>
            </a:xfrm>
            <a:custGeom>
              <a:avLst/>
              <a:gdLst/>
              <a:ahLst/>
              <a:cxnLst/>
              <a:rect l="l" t="t" r="r" b="b"/>
              <a:pathLst>
                <a:path w="2554478" h="1665481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NEON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27778" y="5705465"/>
            <a:ext cx="3465208" cy="3361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1"/>
              </a:lnSpc>
            </a:pPr>
            <a:r>
              <a:rPr lang="en-US" sz="290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Agricultural Sources</a:t>
            </a:r>
          </a:p>
          <a:p>
            <a:pPr marL="549580" lvl="1" indent="-274790" algn="just">
              <a:lnSpc>
                <a:spcPts val="3054"/>
              </a:lnSpc>
              <a:buFont typeface="Arial"/>
              <a:buChar char="•"/>
            </a:pPr>
            <a:r>
              <a:rPr lang="en-US" sz="25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ICAR</a:t>
            </a:r>
          </a:p>
          <a:p>
            <a:pPr marL="549580" lvl="1" indent="-274790" algn="just">
              <a:lnSpc>
                <a:spcPts val="3054"/>
              </a:lnSpc>
              <a:buFont typeface="Arial"/>
              <a:buChar char="•"/>
            </a:pPr>
            <a:r>
              <a:rPr lang="en-US" sz="25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TNAU</a:t>
            </a:r>
          </a:p>
          <a:p>
            <a:pPr marL="549580" lvl="1" indent="-274790" algn="just">
              <a:lnSpc>
                <a:spcPts val="3054"/>
              </a:lnSpc>
              <a:buFont typeface="Arial"/>
              <a:buChar char="•"/>
            </a:pPr>
            <a:r>
              <a:rPr lang="en-US" sz="25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IMD</a:t>
            </a:r>
          </a:p>
          <a:p>
            <a:pPr marL="549580" lvl="1" indent="-274790" algn="just">
              <a:lnSpc>
                <a:spcPts val="3054"/>
              </a:lnSpc>
              <a:buFont typeface="Arial"/>
              <a:buChar char="•"/>
            </a:pPr>
            <a:r>
              <a:rPr lang="en-US" sz="25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Soil Health Card</a:t>
            </a:r>
          </a:p>
          <a:p>
            <a:pPr marL="549580" lvl="1" indent="-274790" algn="just">
              <a:lnSpc>
                <a:spcPts val="3054"/>
              </a:lnSpc>
              <a:buFont typeface="Arial"/>
              <a:buChar char="•"/>
            </a:pPr>
            <a:r>
              <a:rPr lang="en-US" sz="25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Agmarknet</a:t>
            </a:r>
          </a:p>
          <a:p>
            <a:pPr marL="549580" lvl="1" indent="-274790" algn="just">
              <a:lnSpc>
                <a:spcPts val="3054"/>
              </a:lnSpc>
              <a:buFont typeface="Arial"/>
              <a:buChar char="•"/>
            </a:pPr>
            <a:r>
              <a:rPr lang="en-US" sz="25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FAO</a:t>
            </a:r>
          </a:p>
          <a:p>
            <a:pPr algn="just">
              <a:lnSpc>
                <a:spcPts val="4909"/>
              </a:lnSpc>
            </a:pPr>
            <a:endParaRPr lang="en-US" sz="25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91643" y="2288376"/>
            <a:ext cx="5577864" cy="248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9"/>
              </a:lnSpc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AI &amp; Data Sources </a:t>
            </a:r>
          </a:p>
          <a:p>
            <a:pPr marL="564192" lvl="1" indent="-282096" algn="l">
              <a:lnSpc>
                <a:spcPts val="3135"/>
              </a:lnSpc>
              <a:buFont typeface="Arial"/>
              <a:buChar char="•"/>
            </a:pPr>
            <a:r>
              <a:rPr lang="en-US" sz="26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TensorFlow, PyTorch, OpenCV, YOLO, XGBoost</a:t>
            </a:r>
          </a:p>
          <a:p>
            <a:pPr marL="564192" lvl="1" indent="-282096" algn="l">
              <a:lnSpc>
                <a:spcPts val="3135"/>
              </a:lnSpc>
              <a:buFont typeface="Arial"/>
              <a:buChar char="•"/>
            </a:pPr>
            <a:r>
              <a:rPr lang="en-US" sz="261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Weather APIs · Satellite imagery providers · Soil databases · Market price APIs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026914" y="1962140"/>
            <a:ext cx="7362349" cy="320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</a:t>
            </a:r>
          </a:p>
          <a:p>
            <a:pPr marL="647698" lvl="1" indent="-323849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AI crop recommendations with explainability</a:t>
            </a:r>
          </a:p>
          <a:p>
            <a:pPr marL="647698" lvl="1" indent="-323849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actionable guidance and disease detection</a:t>
            </a:r>
          </a:p>
          <a:p>
            <a:pPr marL="647698" lvl="1" indent="-323849" algn="l">
              <a:lnSpc>
                <a:spcPts val="35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market intelligence and farmer-to-buyer marketplace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294F2F-9361-8CB8-98A5-10DB0B2596E2}"/>
              </a:ext>
            </a:extLst>
          </p:cNvPr>
          <p:cNvSpPr txBox="1"/>
          <p:nvPr/>
        </p:nvSpPr>
        <p:spPr>
          <a:xfrm>
            <a:off x="11664306" y="5501603"/>
            <a:ext cx="599591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Gill Sans MT" panose="020B0502020104020203" pitchFamily="34" charset="0"/>
              </a:rPr>
              <a:t>                       </a:t>
            </a:r>
            <a:r>
              <a:rPr lang="en-US" sz="3200" b="1" dirty="0">
                <a:latin typeface="Gill Sans MT" panose="020B0502020104020203" pitchFamily="34" charset="0"/>
              </a:rPr>
              <a:t>Future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🛰 Satellite-based Crop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🚁 Drone-based Field Inspection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📡 IoT Soil &amp; Weather Sensors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💧 AI-based Smart Irrigation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🛡 Crop Insurance &amp; Government Scheme Integration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🌱 Sustainable Farming &amp; Carbon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528</Words>
  <Application>Microsoft Office PowerPoint</Application>
  <PresentationFormat>Custom</PresentationFormat>
  <Paragraphs>106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Arial</vt:lpstr>
      <vt:lpstr>Arimo Bold</vt:lpstr>
      <vt:lpstr>Times New Roman Bold</vt:lpstr>
      <vt:lpstr>Calibri (MS)</vt:lpstr>
      <vt:lpstr>Times New Roman</vt:lpstr>
      <vt:lpstr>Arimo</vt:lpstr>
      <vt:lpstr>Gill Sans MT</vt:lpstr>
      <vt:lpstr>Calibri (MS) Bold</vt:lpstr>
      <vt:lpstr>Britannic Bold</vt:lpstr>
      <vt:lpstr>Heading Now 71-78</vt:lpstr>
      <vt:lpstr>Calibri</vt:lpstr>
      <vt:lpstr>TT Firs Neue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SIH2025-IDEA-Presentation-Format (1).pptx</dc:title>
  <cp:lastModifiedBy>Sujan S</cp:lastModifiedBy>
  <cp:revision>8</cp:revision>
  <dcterms:created xsi:type="dcterms:W3CDTF">2006-08-16T00:00:00Z</dcterms:created>
  <dcterms:modified xsi:type="dcterms:W3CDTF">2026-08-08T09:56:45Z</dcterms:modified>
  <dc:identifier>DAHRn0SQ18o</dc:identifier>
</cp:coreProperties>
</file>